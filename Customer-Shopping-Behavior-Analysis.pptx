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Kanit"/>
      <p:regular r:id="rId17"/>
    </p:embeddedFont>
    <p:embeddedFont>
      <p:font typeface="Kanit"/>
      <p:regular r:id="rId18"/>
    </p:embeddedFont>
    <p:embeddedFont>
      <p:font typeface="Kanit"/>
      <p:regular r:id="rId19"/>
    </p:embeddedFont>
    <p:embeddedFont>
      <p:font typeface="Kanit"/>
      <p:regular r:id="rId20"/>
    </p:embeddedFont>
    <p:embeddedFont>
      <p:font typeface="Martel Sans Light"/>
      <p:regular r:id="rId21"/>
    </p:embeddedFont>
    <p:embeddedFont>
      <p:font typeface="Martel Sans Ligh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656761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Customer Shopping Behavior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423767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Uncovering insights from 3,900 purchases to guide strategic business decisions through data-driven analysis of spending patterns, customer segments, and product preferences.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68222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Dataset Overview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1864876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3,900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837724" y="2953822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7724" y="3449360"/>
            <a:ext cx="22900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Transactions analyzed across all categories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426976" y="1864876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18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3426976" y="2953822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26976" y="3449360"/>
            <a:ext cx="22900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Comprehensive customer and purchase attributes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016228" y="1864876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50</a:t>
            </a:r>
            <a:endParaRPr lang="en-US" sz="6200" dirty="0"/>
          </a:p>
        </p:txBody>
      </p:sp>
      <p:sp>
        <p:nvSpPr>
          <p:cNvPr id="11" name="Text 8"/>
          <p:cNvSpPr/>
          <p:nvPr/>
        </p:nvSpPr>
        <p:spPr>
          <a:xfrm>
            <a:off x="6016228" y="2953822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16228" y="3449360"/>
            <a:ext cx="22900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Geographic diversity in customer base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3426976" y="5196840"/>
            <a:ext cx="22900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25</a:t>
            </a:r>
            <a:endParaRPr lang="en-US" sz="6200" dirty="0"/>
          </a:p>
        </p:txBody>
      </p:sp>
      <p:sp>
        <p:nvSpPr>
          <p:cNvPr id="14" name="Text 11"/>
          <p:cNvSpPr/>
          <p:nvPr/>
        </p:nvSpPr>
        <p:spPr>
          <a:xfrm>
            <a:off x="3426976" y="6285786"/>
            <a:ext cx="22900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Products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26976" y="6781324"/>
            <a:ext cx="22900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Unique items across four categories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2001" y="932021"/>
            <a:ext cx="7306985" cy="648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 Preparation &amp; Engineering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772001" y="2132052"/>
            <a:ext cx="2895124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Python Analysis Pipeline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72001" y="2677001"/>
            <a:ext cx="3530918" cy="70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Loaded dataset using pandas for exploration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2001" y="3459956"/>
            <a:ext cx="3530918" cy="105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Imputed missing Review Rating values using median by category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2001" y="4595813"/>
            <a:ext cx="3530918" cy="70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Standardized columns to snake_case format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2001" y="5378768"/>
            <a:ext cx="3530918" cy="105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Created age_group and purchase_frequency_days features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2001" y="6514624"/>
            <a:ext cx="3530918" cy="70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Integrated cleaned data into PostgreSQL database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48701" y="2132052"/>
            <a:ext cx="2595086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Key Data Points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848701" y="2677001"/>
            <a:ext cx="3530918" cy="352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Average Purchase: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$59.76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848701" y="3228380"/>
            <a:ext cx="3530918" cy="352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Age Range: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18-70 years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848701" y="3779758"/>
            <a:ext cx="3530918" cy="352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Average Rating: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3.75/5.0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848701" y="4331137"/>
            <a:ext cx="3530918" cy="70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Missing Data: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37 values in Review Rating (handled via imputation)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808" y="591264"/>
            <a:ext cx="5048012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Revenue Insights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50808" y="1544002"/>
            <a:ext cx="7642384" cy="1559600"/>
          </a:xfrm>
          <a:prstGeom prst="roundRect">
            <a:avLst>
              <a:gd name="adj" fmla="val 2063"/>
            </a:avLst>
          </a:prstGeom>
          <a:solidFill>
            <a:srgbClr val="2F2B54"/>
          </a:solidFill>
          <a:ln/>
        </p:spPr>
      </p:sp>
      <p:sp>
        <p:nvSpPr>
          <p:cNvPr id="5" name="Text 2"/>
          <p:cNvSpPr/>
          <p:nvPr/>
        </p:nvSpPr>
        <p:spPr>
          <a:xfrm>
            <a:off x="965240" y="1758434"/>
            <a:ext cx="2524006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Gender Revenue Split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65240" y="2202656"/>
            <a:ext cx="7213521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Male customers generated </a:t>
            </a:r>
            <a:pPr algn="l"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$157,890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in total revenue, more than double the </a:t>
            </a:r>
            <a:pPr algn="l"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$75,191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from female customers.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50808" y="3318034"/>
            <a:ext cx="7642384" cy="772120"/>
          </a:xfrm>
          <a:prstGeom prst="roundRect">
            <a:avLst>
              <a:gd name="adj" fmla="val 4168"/>
            </a:avLst>
          </a:prstGeom>
          <a:solidFill>
            <a:srgbClr val="2F2B54"/>
          </a:solidFill>
          <a:ln/>
        </p:spPr>
      </p:sp>
      <p:sp>
        <p:nvSpPr>
          <p:cNvPr id="8" name="Text 5"/>
          <p:cNvSpPr/>
          <p:nvPr/>
        </p:nvSpPr>
        <p:spPr>
          <a:xfrm>
            <a:off x="965240" y="3532465"/>
            <a:ext cx="7213521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50808" y="4304586"/>
            <a:ext cx="7642384" cy="1559600"/>
          </a:xfrm>
          <a:prstGeom prst="roundRect">
            <a:avLst>
              <a:gd name="adj" fmla="val 2063"/>
            </a:avLst>
          </a:prstGeom>
          <a:solidFill>
            <a:srgbClr val="2F2B54"/>
          </a:solidFill>
          <a:ln/>
        </p:spPr>
      </p:sp>
      <p:sp>
        <p:nvSpPr>
          <p:cNvPr id="10" name="Text 7"/>
          <p:cNvSpPr/>
          <p:nvPr/>
        </p:nvSpPr>
        <p:spPr>
          <a:xfrm>
            <a:off x="965240" y="4519017"/>
            <a:ext cx="3001566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High-Value Discount Users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65240" y="4963239"/>
            <a:ext cx="7213521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839 customers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used discounts while spending above the $59.76 average, indicating strategic discount usage.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50808" y="6078617"/>
            <a:ext cx="7642384" cy="1559600"/>
          </a:xfrm>
          <a:prstGeom prst="roundRect">
            <a:avLst>
              <a:gd name="adj" fmla="val 2063"/>
            </a:avLst>
          </a:prstGeom>
          <a:solidFill>
            <a:srgbClr val="2F2B54"/>
          </a:solidFill>
          <a:ln/>
        </p:spPr>
      </p:sp>
      <p:sp>
        <p:nvSpPr>
          <p:cNvPr id="13" name="Text 10"/>
          <p:cNvSpPr/>
          <p:nvPr/>
        </p:nvSpPr>
        <p:spPr>
          <a:xfrm>
            <a:off x="965240" y="6293048"/>
            <a:ext cx="2524006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Shipping Preferences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965240" y="6737271"/>
            <a:ext cx="7213521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Express shipping users spend </a:t>
            </a:r>
            <a:pPr algn="l"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$60.48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on average vs. </a:t>
            </a:r>
            <a:pPr algn="l"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$58.46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for Standard, suggesting premium service attracts higher spenders.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16850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Product Performance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8988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Top Rated: Gloves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394359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Highest average rating at 3.86/5.0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255776" y="38988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Sandals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55776" y="4394359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Second highest rating at 3.84/5.0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673828" y="38988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Boots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73828" y="4394359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Strong performance at 3.82/5.0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5046583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Top-rated products show consistent quality across accessories and footwear categories, providing opportunities for featured marketing campaigns.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9237" y="439341"/>
            <a:ext cx="4494490" cy="469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Discount Strategy Analysis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37" y="1228844"/>
            <a:ext cx="13511927" cy="7566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9237" y="8975169"/>
            <a:ext cx="13511927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Nearly half of all purchases for these products involved discounts, suggesting price sensitivity. Balance promotional strategies with margin protection.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56348"/>
            <a:ext cx="609742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Customer Segmentation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753195" y="407539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Loyal Customers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570928"/>
            <a:ext cx="373165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3,116 customers</a:t>
            </a:r>
            <a:pPr algn="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(80%) with 5+ purchases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9146" y="4527113"/>
            <a:ext cx="358140" cy="3581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41243" y="28520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41243" y="3347561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701 customers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(18%) with 2-4 purchases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9563" y="3152775"/>
            <a:ext cx="358140" cy="3581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41243" y="529863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New Customers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41243" y="5794177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83 customers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(2%) with first purchase</a:t>
            </a:r>
            <a:endParaRPr lang="en-US" sz="1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29563" y="5901333"/>
            <a:ext cx="358140" cy="3581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823" y="380881"/>
            <a:ext cx="3259574" cy="40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Subscription Impact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663434" y="2052161"/>
            <a:ext cx="1703784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27%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6506" y="1186339"/>
            <a:ext cx="2077879" cy="20778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00582" y="3437215"/>
            <a:ext cx="1629728" cy="203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Subscription Rate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84823" y="3779401"/>
            <a:ext cx="8061246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1,053 of 3,900 customers subscribed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63434" y="5178504"/>
            <a:ext cx="1703784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958</a:t>
            </a:r>
            <a:endParaRPr lang="en-US" sz="2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506" y="4312682"/>
            <a:ext cx="2077879" cy="207787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00582" y="6563558"/>
            <a:ext cx="1629728" cy="203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Loyal Subscribers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84823" y="6905744"/>
            <a:ext cx="8061246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Repeat buyers (5+ purchases) who subscribe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84823" y="7283172"/>
            <a:ext cx="8061246" cy="443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Subscribers spend </a:t>
            </a:r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$59.49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on average vs. </a:t>
            </a:r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$59.87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for non-subscribers, generating </a:t>
            </a:r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$62,645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total revenue. Opportunity exists to convert high-frequency buyers into subscribers.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588" y="1151811"/>
            <a:ext cx="5261491" cy="52614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9237" y="439341"/>
            <a:ext cx="5392460" cy="469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Age Group Revenue Distribution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37" y="1228844"/>
            <a:ext cx="13511927" cy="7566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9237" y="8975169"/>
            <a:ext cx="13511927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Young adults lead revenue generation at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$62,143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followed closely by middle-aged customers. Relatively balanced distribution suggests broad market appeal across demographics.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36533"/>
            <a:ext cx="708124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Strategic Recommendations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019300"/>
            <a:ext cx="4158734" cy="2567226"/>
          </a:xfrm>
          <a:prstGeom prst="roundRect">
            <a:avLst>
              <a:gd name="adj" fmla="val 5699"/>
            </a:avLst>
          </a:prstGeom>
          <a:solidFill>
            <a:srgbClr val="100C35"/>
          </a:solidFill>
          <a:ln w="30480">
            <a:solidFill>
              <a:srgbClr val="48446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244" y="2019300"/>
            <a:ext cx="121920" cy="25672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98959" y="228909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98959" y="2784634"/>
            <a:ext cx="35277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Promote exclusive benefits to convert the 958 loyal repeat buyers into subscribers, increasing predictable revenue.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35773" y="2019300"/>
            <a:ext cx="4158734" cy="2567226"/>
          </a:xfrm>
          <a:prstGeom prst="roundRect">
            <a:avLst>
              <a:gd name="adj" fmla="val 5699"/>
            </a:avLst>
          </a:prstGeom>
          <a:solidFill>
            <a:srgbClr val="100C35"/>
          </a:solidFill>
          <a:ln w="30480">
            <a:solidFill>
              <a:srgbClr val="4844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293" y="2019300"/>
            <a:ext cx="121920" cy="25672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97009" y="2289096"/>
            <a:ext cx="345471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Customer Loyalty Programs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597009" y="2784634"/>
            <a:ext cx="35277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Reward the 701 returning customers to accelerate their transition into the loyal segment.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9633823" y="2019300"/>
            <a:ext cx="4158853" cy="2567226"/>
          </a:xfrm>
          <a:prstGeom prst="roundRect">
            <a:avLst>
              <a:gd name="adj" fmla="val 5699"/>
            </a:avLst>
          </a:prstGeom>
          <a:solidFill>
            <a:srgbClr val="100C35"/>
          </a:solidFill>
          <a:ln w="30480">
            <a:solidFill>
              <a:srgbClr val="48446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343" y="2019300"/>
            <a:ext cx="121920" cy="25672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95059" y="2289096"/>
            <a:ext cx="289321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995059" y="2784634"/>
            <a:ext cx="352782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Balance promotional strategies for discount-dependent products (Hats, Sneakers, Coats) with margin control.</a:t>
            </a:r>
            <a:endParaRPr lang="en-US" sz="1850" dirty="0"/>
          </a:p>
        </p:txBody>
      </p:sp>
      <p:sp>
        <p:nvSpPr>
          <p:cNvPr id="15" name="Shape 10"/>
          <p:cNvSpPr/>
          <p:nvPr/>
        </p:nvSpPr>
        <p:spPr>
          <a:xfrm>
            <a:off x="837724" y="4825841"/>
            <a:ext cx="4158734" cy="2567226"/>
          </a:xfrm>
          <a:prstGeom prst="roundRect">
            <a:avLst>
              <a:gd name="adj" fmla="val 5699"/>
            </a:avLst>
          </a:prstGeom>
          <a:solidFill>
            <a:srgbClr val="100C35"/>
          </a:solidFill>
          <a:ln w="30480">
            <a:solidFill>
              <a:srgbClr val="48446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44" y="4825841"/>
            <a:ext cx="121920" cy="256722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98959" y="509563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198959" y="5591175"/>
            <a:ext cx="35277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Feature top-rated products (Gloves, Sandals, Boots) and best-sellers (Blouse, Jewelry) in marketing campaigns.</a:t>
            </a:r>
            <a:endParaRPr lang="en-US" sz="1850" dirty="0"/>
          </a:p>
        </p:txBody>
      </p:sp>
      <p:sp>
        <p:nvSpPr>
          <p:cNvPr id="19" name="Shape 13"/>
          <p:cNvSpPr/>
          <p:nvPr/>
        </p:nvSpPr>
        <p:spPr>
          <a:xfrm>
            <a:off x="5235773" y="4825841"/>
            <a:ext cx="4158734" cy="2567226"/>
          </a:xfrm>
          <a:prstGeom prst="roundRect">
            <a:avLst>
              <a:gd name="adj" fmla="val 5699"/>
            </a:avLst>
          </a:prstGeom>
          <a:solidFill>
            <a:srgbClr val="100C35"/>
          </a:solidFill>
          <a:ln w="30480">
            <a:solidFill>
              <a:srgbClr val="48446D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5293" y="4825841"/>
            <a:ext cx="121920" cy="256722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97009" y="509563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5597009" y="5591175"/>
            <a:ext cx="35277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Focus efforts on young adults and express-shipping users who demonstrate higher spending patterns.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2025-10-18T18:54:37Z</dcterms:created>
  <dcterms:modified xsi:type="dcterms:W3CDTF">2025-10-18T18:54:37Z</dcterms:modified>
</cp:coreProperties>
</file>